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Lakhs)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E9C46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M6</c:v>
                  </c:pt>
                  <c:pt idx="1">
                    <c:v>M9</c:v>
                  </c:pt>
                  <c:pt idx="2">
                    <c:v>M12</c:v>
                  </c:pt>
                  <c:pt idx="3">
                    <c:v>M15</c:v>
                  </c:pt>
                  <c:pt idx="4">
                    <c:v>M18</c:v>
                  </c:pt>
                  <c:pt idx="5">
                    <c:v>M24</c:v>
                  </c:pt>
                  <c:pt idx="6">
                    <c:v>M30</c:v>
                  </c:pt>
                  <c:pt idx="7">
                    <c:v>M36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18</c:v>
                </c:pt>
                <c:pt idx="5">
                  <c:v>35</c:v>
                </c:pt>
                <c:pt idx="6">
                  <c:v>65</c:v>
                </c:pt>
                <c:pt idx="7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E9C46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</c:scaling>
        <c:delete val="0"/>
        <c:axPos val="l"/>
        <c:majorGridlines>
          <c:spPr>
            <a:ln w="6350" cap="flat">
              <a:solidFill>
                <a:srgbClr val="1d3a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13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005F73">
              <a:alpha val="12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0" y="-640080"/>
            <a:ext cx="3657600" cy="3657600"/>
          </a:xfrm>
          <a:prstGeom prst="ellipse">
            <a:avLst/>
          </a:prstGeom>
          <a:solidFill>
            <a:srgbClr val="0A9396">
              <a:alpha val="12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-182880"/>
            <a:ext cx="2743200" cy="2743200"/>
          </a:xfrm>
          <a:prstGeom prst="ellipse">
            <a:avLst/>
          </a:prstGeom>
          <a:solidFill>
            <a:srgbClr val="005F73">
              <a:alpha val="2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315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SANGAM AI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4D2BD"/>
                </a:solidFill>
              </a:rPr>
              <a:t>Where Intelligence Meets Tradition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097280" cy="45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A9BB5"/>
                </a:solidFill>
              </a:rPr>
              <a:t>COMPLETE BUSINESS PLAN  ·  FROM ZERO TO LAUNCH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9C46A"/>
                </a:solidFill>
              </a:rPr>
              <a:t>Pan-India AI-Powered Matrimonial Platform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920240" cy="91440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17520"/>
            <a:ext cx="1920240" cy="45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63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₹5–15L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0"/>
                </a:solidFill>
              </a:rPr>
              <a:t>Phase 1 Investment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606040" y="3017520"/>
            <a:ext cx="1920240" cy="91440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06040" y="3017520"/>
            <a:ext cx="1920240" cy="45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3063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50M+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65176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0"/>
                </a:solidFill>
              </a:rPr>
              <a:t>Target Users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1920240" cy="91440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017520"/>
            <a:ext cx="1920240" cy="45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063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0060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0"/>
                </a:solidFill>
              </a:rPr>
              <a:t>Market CAGR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903720" y="3017520"/>
            <a:ext cx="1920240" cy="91440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3017520"/>
            <a:ext cx="192024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3063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D2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₹2,000–3,500 Cr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35204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0"/>
                </a:solidFill>
              </a:rPr>
              <a:t>Realistic Digital TAM ✓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Confidential Business Plan  |  2025–2028  |  Chennai, India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7A9BB5"/>
                </a:solidFill>
              </a:rPr>
              <a:t>SANGAM AI — BUSINESS PLAN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</a:rPr>
              <a:t>Your complete roadmap — from idea to 100-scale operation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4114800" cy="566928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325880"/>
            <a:ext cx="411480" cy="56692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6245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371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Vision &amp; Business Model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63677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Slides 3–5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" y="2020824"/>
            <a:ext cx="4114800" cy="566928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020824"/>
            <a:ext cx="411480" cy="56692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0574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20665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 Analysis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23317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Slides 6–8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" y="2715768"/>
            <a:ext cx="4114800" cy="566928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715768"/>
            <a:ext cx="411480" cy="56692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75234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27614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Phase-wise Investment Plan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302666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Slides 9–11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0040" y="3410712"/>
            <a:ext cx="4114800" cy="566928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410712"/>
            <a:ext cx="411480" cy="56692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44728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4564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Legal Setup &amp; Registration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372160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Slides 12–15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20040" y="4105656"/>
            <a:ext cx="4114800" cy="566928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105656"/>
            <a:ext cx="411480" cy="56692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14223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41513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Tech Stack &amp; Software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44165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Slides 16–18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54880" y="1325880"/>
            <a:ext cx="4114800" cy="566928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1325880"/>
            <a:ext cx="411480" cy="56692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36245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57800" y="1371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Subscriptions &amp; Tools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57800" y="163677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Slides 19–20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54880" y="2020824"/>
            <a:ext cx="4114800" cy="566928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2020824"/>
            <a:ext cx="411480" cy="56692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0574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</a:rPr>
              <a:t>07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57800" y="206654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Team &amp; Hiring Plan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57800" y="23317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Slides 21–22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754880" y="2715768"/>
            <a:ext cx="4114800" cy="566928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2715768"/>
            <a:ext cx="411480" cy="56692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275234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</a:rPr>
              <a:t>08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257800" y="27614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Marketing &amp; Growth Strategy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257800" y="302666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Slides 23–24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54880" y="3410712"/>
            <a:ext cx="4114800" cy="566928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3410712"/>
            <a:ext cx="411480" cy="56692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44728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</a:rPr>
              <a:t>09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257800" y="34564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Financial Projections &amp; KPIs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57800" y="372160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Slides 25–26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754880" y="4105656"/>
            <a:ext cx="4114800" cy="566928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54880" y="4105656"/>
            <a:ext cx="411480" cy="566928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414223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C46A"/>
                </a:solidFill>
              </a:rPr>
              <a:t>10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257800" y="41513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 Register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257800" y="44165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Slide 27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3F52"/>
          </a:solidFill>
          <a:ln w="12700">
            <a:solidFill>
              <a:srgbClr val="003F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9C46A"/>
                </a:solidFill>
              </a:rPr>
              <a:t>SECTION 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&amp;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D2BD"/>
                </a:solidFill>
              </a:rPr>
              <a:t>What Sangam AI is, and how it makes money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7A9BB5"/>
                </a:solidFill>
              </a:rPr>
              <a:t>SECTION 01 — VISION &amp; BUSINESS MODEL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VISION, MISSION &amp; VALUE PROPOSITION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</a:rPr>
              <a:t>The 'Why' behind Sangam AI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3931920" cy="105156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61872"/>
            <a:ext cx="3931920" cy="45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80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9C46A"/>
                </a:solidFill>
              </a:rPr>
              <a:t>VISION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53619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To become India's most trusted AI-powered matchmaking platform — where every family finds love with dignity, data, and deep cultural respect.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92040" y="1261872"/>
            <a:ext cx="3931920" cy="1051560"/>
          </a:xfrm>
          <a:prstGeom prst="rect">
            <a:avLst/>
          </a:prstGeom>
          <a:solidFill>
            <a:srgbClr val="003F52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261872"/>
            <a:ext cx="393192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2801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9396"/>
                </a:solidFill>
              </a:rPr>
              <a:t>MISSION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0" y="153619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8"/>
                </a:solidFill>
              </a:rPr>
              <a:t>Use AI to remove friction, bias, and fake profiles from Indian matrimony — while honouring family values, regional language, and community traditions.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487168"/>
            <a:ext cx="2011680" cy="1051560"/>
          </a:xfrm>
          <a:prstGeom prst="rect">
            <a:avLst/>
          </a:prstGeom>
          <a:solidFill>
            <a:srgbClr val="003F52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487168"/>
            <a:ext cx="2011680" cy="45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42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" y="2834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Matching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307238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Compatibility score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beyond caste &amp; horoscope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68880" y="2487168"/>
            <a:ext cx="2011680" cy="1051560"/>
          </a:xfrm>
          <a:prstGeom prst="rect">
            <a:avLst/>
          </a:prstGeom>
          <a:solidFill>
            <a:srgbClr val="003F52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2487168"/>
            <a:ext cx="2011680" cy="457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2542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🗣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560320" y="2834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22 Languages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0" y="307238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Voice-first vernacular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onboarding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17720" y="2487168"/>
            <a:ext cx="2011680" cy="1051560"/>
          </a:xfrm>
          <a:prstGeom prst="rect">
            <a:avLst/>
          </a:prstGeom>
          <a:solidFill>
            <a:srgbClr val="003F52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7720" y="2487168"/>
            <a:ext cx="2011680" cy="4572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542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709160" y="2834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Triple Verification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9160" y="307238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Aadhaar + Video +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Family verified badges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766560" y="2487168"/>
            <a:ext cx="2011680" cy="1051560"/>
          </a:xfrm>
          <a:prstGeom prst="rect">
            <a:avLst/>
          </a:prstGeom>
          <a:solidFill>
            <a:srgbClr val="003F5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2487168"/>
            <a:ext cx="2011680" cy="45720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25420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👨‍👩‍👧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858000" y="2834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Family Dashboard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307238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Elder-inclusive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approval flows built in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7A9BB5"/>
                </a:solidFill>
              </a:rPr>
              <a:t>SECTION 01 — VISION &amp; BUSINESS MODEL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&amp; REVENUE MODEL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</a:rPr>
              <a:t>How Sangam AI generates sustainable income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14800" cy="1325880"/>
          </a:xfrm>
          <a:prstGeom prst="rect">
            <a:avLst/>
          </a:prstGeom>
          <a:solidFill>
            <a:srgbClr val="003F52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61872"/>
            <a:ext cx="64008" cy="13258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3533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₹499–₹1,999/mo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" y="1719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Freemium Subscription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" y="197510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Basic free. Premium unlocks AI compatibility scores, chat, and verified contact details.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0" y="1261872"/>
            <a:ext cx="4114800" cy="1325880"/>
          </a:xfrm>
          <a:prstGeom prst="rect">
            <a:avLst/>
          </a:prstGeom>
          <a:solidFill>
            <a:srgbClr val="003F52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261872"/>
            <a:ext cx="64008" cy="13258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3533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93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₹199–₹999/use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9472" y="1719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Profile Boost &amp; Spotlight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19472" y="197510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Pay-per-use visibility boost. Show profile at top of search results for 7–30 days.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770632"/>
            <a:ext cx="4114800" cy="1325880"/>
          </a:xfrm>
          <a:prstGeom prst="rect">
            <a:avLst/>
          </a:prstGeom>
          <a:solidFill>
            <a:srgbClr val="003F52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770632"/>
            <a:ext cx="64008" cy="132588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28620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D2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₹149–₹599/each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" y="32278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Premium Unlock Add-ons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" y="348386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Kundli report, background check, video call unlock, family meeting scheduler.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2770632"/>
            <a:ext cx="4114800" cy="1325880"/>
          </a:xfrm>
          <a:prstGeom prst="rect">
            <a:avLst/>
          </a:prstGeom>
          <a:solidFill>
            <a:srgbClr val="003F5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770632"/>
            <a:ext cx="64008" cy="1325880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8620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67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₹9,999/yr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19472" y="32278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B2B Community Packages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19472" y="348386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Caste associations, religious groups, NRI societies — white-label portal with community branding.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3F52"/>
          </a:solidFill>
          <a:ln w="12700">
            <a:solidFill>
              <a:srgbClr val="003F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9C46A"/>
                </a:solidFill>
              </a:rPr>
              <a:t>SECTION  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D2BD"/>
                </a:solidFill>
              </a:rPr>
              <a:t>Corrected sizing of the ₹2,000–3,500 Cr digital opportunity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7A9BB5"/>
                </a:solidFill>
              </a:rPr>
              <a:t>SECTION 02 — MARKET ANALYSIS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SIZE &amp; SEGMENTS — CORRECTED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</a:rPr>
              <a:t>TAM · SAM · SOM breakdown — original ₹9,000 Cr TAM was inflated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475488"/>
          </a:xfrm>
          <a:prstGeom prst="rect">
            <a:avLst/>
          </a:prstGeom>
          <a:solidFill>
            <a:srgbClr val="1A080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61872"/>
            <a:ext cx="64008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9844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B7B1"/>
                </a:solidFill>
              </a:rPr>
              <a:t>🔴  CORRECTED: Original PPT claimed ₹9,000 Cr TAM by mixing offline pandits/agencies with digital platform revenue. Matrimony.com market cap ≈ ₹1,200–1,800 Cr. Online matrimonial industry revenue = ₹1,500–3,000 Cr. Corrected figures below.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920240"/>
            <a:ext cx="2697480" cy="2560320"/>
          </a:xfrm>
          <a:prstGeom prst="rect">
            <a:avLst/>
          </a:prstGeom>
          <a:solidFill>
            <a:srgbClr val="003F52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920240"/>
            <a:ext cx="269748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116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" y="23408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9BB5"/>
                </a:solidFill>
              </a:rPr>
              <a:t>Total Addressable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5786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₹2,000–3,500 Cr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" y="312724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All digital matrimonial platforms in India (online + semi-online)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703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A6702"/>
                </a:solidFill>
              </a:rPr>
              <a:t>Was: ₹9,000 Cr ❌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154680" y="1920240"/>
            <a:ext cx="2697480" cy="2560320"/>
          </a:xfrm>
          <a:prstGeom prst="rect">
            <a:avLst/>
          </a:prstGeom>
          <a:solidFill>
            <a:srgbClr val="003F52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1920240"/>
            <a:ext cx="269748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0116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93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46120" y="23408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9BB5"/>
                </a:solidFill>
              </a:rPr>
              <a:t>Serviceably Available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46120" y="25786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₹800–1,400 Cr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46120" y="312724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Smartphone-accessible urban &amp; Tier-2 users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46120" y="3703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A6702"/>
                </a:solidFill>
              </a:rPr>
              <a:t>Was: ₹3,600 Cr ⚠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989320" y="1920240"/>
            <a:ext cx="2697480" cy="2560320"/>
          </a:xfrm>
          <a:prstGeom prst="rect">
            <a:avLst/>
          </a:prstGeom>
          <a:solidFill>
            <a:srgbClr val="003F52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1920240"/>
            <a:ext cx="2697480" cy="64008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20116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D2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80760" y="234086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7A9BB5"/>
                </a:solidFill>
              </a:rPr>
              <a:t>Obtainable (Yr 1–3)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80760" y="257860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₹5–25 Cr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80760" y="312724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AI-first early adopters in Tier 1 &amp; 2 cities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080760" y="3703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A6702"/>
                </a:solidFill>
              </a:rPr>
              <a:t>Was: ₹180–720 Cr ❌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20040" y="45262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India matrimonial CAGR: 29%  ·  Digital penetration growing 40% YoY  ·  Tier 2/3 cities: fastest growing segment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7A9BB5"/>
                </a:solidFill>
              </a:rPr>
              <a:t>SECTION 02 — MARKET ANALYSIS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</a:rPr>
              <a:t>Where incumbents fall short — and where Sangam AI wins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384048"/>
          </a:xfrm>
          <a:prstGeom prst="rect">
            <a:avLst/>
          </a:prstGeom>
          <a:solidFill>
            <a:srgbClr val="0A1A0D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984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D2BD"/>
                </a:solidFill>
              </a:rPr>
              <a:t>⚠  NOTE: Shaadi has recommendation systems. BharatMatrimony has vernacular + verification. Jeevansathi has family flows. These are NOT weak competitors — they have 20+ years of data.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719072"/>
            <a:ext cx="1828800" cy="310896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19072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</a:rPr>
              <a:t>Platform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76272" y="1719072"/>
            <a:ext cx="1234440" cy="310896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21992" y="1719072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</a:rPr>
              <a:t>AI Match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38144" y="1719072"/>
            <a:ext cx="1234440" cy="310896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83864" y="1719072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</a:rPr>
              <a:t>Vernacular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00016" y="1719072"/>
            <a:ext cx="1234440" cy="310896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1719072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</a:rPr>
              <a:t>Verification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61888" y="1719072"/>
            <a:ext cx="1234440" cy="310896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07608" y="1719072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</a:rPr>
              <a:t>Family UX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223760" y="1719072"/>
            <a:ext cx="2011680" cy="310896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1719072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</a:rPr>
              <a:t>Sangam Edge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2066544"/>
            <a:ext cx="1828800" cy="43891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06654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Matrimony.com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76272" y="2066544"/>
            <a:ext cx="1234440" cy="43891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21992" y="2066544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⚠ Basic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38144" y="2066544"/>
            <a:ext cx="1234440" cy="43891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83864" y="2066544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⚠ Partial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0016" y="2066544"/>
            <a:ext cx="1234440" cy="43891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45736" y="2066544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⚠ Basic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961888" y="2066544"/>
            <a:ext cx="1234440" cy="43891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07608" y="2066544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❌ No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23760" y="2066544"/>
            <a:ext cx="2011680" cy="43891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9480" y="206654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Full AI + Vernacular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2542032"/>
            <a:ext cx="182880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54203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Shaadi.com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76272" y="2542032"/>
            <a:ext cx="123444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21992" y="2542032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✅ Medium+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438144" y="2542032"/>
            <a:ext cx="123444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83864" y="2542032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⚠ Partial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0016" y="2542032"/>
            <a:ext cx="123444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45736" y="2542032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⚠ Basic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961888" y="2542032"/>
            <a:ext cx="123444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07608" y="2542032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❌ No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223760" y="2542032"/>
            <a:ext cx="201168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9480" y="254203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Superior trust layer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3017520"/>
            <a:ext cx="1828800" cy="43891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0175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BharatMatrimony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176272" y="3017520"/>
            <a:ext cx="1234440" cy="43891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21992" y="301752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⚠ Growing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438144" y="3017520"/>
            <a:ext cx="1234440" cy="43891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83864" y="301752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✅ Regional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700016" y="3017520"/>
            <a:ext cx="1234440" cy="43891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45736" y="301752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⚠ Manual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961888" y="3017520"/>
            <a:ext cx="1234440" cy="43891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07608" y="3017520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❌ No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223760" y="3017520"/>
            <a:ext cx="2011680" cy="43891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69480" y="30175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Automated AI screen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20040" y="3493008"/>
            <a:ext cx="182880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349300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Jeevansathi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176272" y="3493008"/>
            <a:ext cx="123444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21992" y="3493008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✅ Medium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438144" y="3493008"/>
            <a:ext cx="123444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83864" y="3493008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❌ Hindi only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700016" y="3493008"/>
            <a:ext cx="123444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45736" y="3493008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❌ Manual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961888" y="3493008"/>
            <a:ext cx="123444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07608" y="3493008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⚠ Partial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223760" y="3493008"/>
            <a:ext cx="2011680" cy="43891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269480" y="349300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Pan-India language AI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20040" y="3968496"/>
            <a:ext cx="1828800" cy="438912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396849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C46A"/>
                </a:solidFill>
              </a:rPr>
              <a:t>Sangam AI ✦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176272" y="3968496"/>
            <a:ext cx="1234440" cy="438912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221992" y="3968496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✅ FULL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438144" y="3968496"/>
            <a:ext cx="1234440" cy="438912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483864" y="3968496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✅ 22 Lang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700016" y="3968496"/>
            <a:ext cx="1234440" cy="438912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745736" y="3968496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✅ AI+Video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961888" y="3968496"/>
            <a:ext cx="1234440" cy="438912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07608" y="3968496"/>
            <a:ext cx="1143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✅ YES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223760" y="3968496"/>
            <a:ext cx="2011680" cy="438912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269480" y="396849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— WE ARE THE EDGE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320040" y="455371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✦ Sangam AI is the ONLY platform with Full AI + 22 Languages + Video KYC + Family Dashboard — all in one app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3F52"/>
          </a:solidFill>
          <a:ln w="12700">
            <a:solidFill>
              <a:srgbClr val="003F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9C46A"/>
                </a:solidFill>
              </a:rPr>
              <a:t>SECTION  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PHASE-WISE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D2BD"/>
                </a:solidFill>
              </a:rPr>
              <a:t>Start small. Scale smart. From ₹5L to ₹1 Crore+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7A9BB5"/>
                </a:solidFill>
              </a:rPr>
              <a:t>SECTION 03 — INVESTMENT PLAN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MVP LAUNCH  (₹5–15 Lakhs)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</a:rPr>
              <a:t>Month 1–6  ·  Validate the idea with minimum viable product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347472"/>
          </a:xfrm>
          <a:prstGeom prst="rect">
            <a:avLst/>
          </a:prstGeom>
          <a:solidFill>
            <a:srgbClr val="1A080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B7B1"/>
                </a:solidFill>
              </a:rPr>
              <a:t>🔴  CAC REALITY CHECK: ₹1.5L marketing → 5,000 users implies ₹30/user. Industry reality: ₹300–₹1,500/user. Realistic outcome: 300–1,000 users.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737360"/>
            <a:ext cx="4114800" cy="59436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783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Company Registration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202996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Pvt Ltd via MCA + GST + PAN (one-time)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37560" y="17830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₹0.15L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737360"/>
            <a:ext cx="4114800" cy="59436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783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Basic UI/UX Design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64608" y="202996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Figma prototype + 1 designer (freelance, 1 month)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72400" y="17830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₹0.75L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2404872"/>
            <a:ext cx="4114800" cy="59436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450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Domain + Hosting Setup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9768" y="269748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AWS 6-month server, domain, SSL, email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37560" y="245059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₹0.30L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2404872"/>
            <a:ext cx="4114800" cy="59436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4505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Legal &amp; Compliance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64608" y="269748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Privacy policy, T&amp;C, DPDP Act compliance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772400" y="245059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₹0.50L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" y="3072384"/>
            <a:ext cx="4114800" cy="59436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31181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MVP App Development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9768" y="33649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1 Freelance Full-Stack Dev + React Native (3 months)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37560" y="311810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₹4.00L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3072384"/>
            <a:ext cx="4114800" cy="59436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1181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Marketing — Launch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64608" y="33649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Instagram + WhatsApp ads, Chennai launch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772400" y="311810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₹1.50L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0040" y="3739896"/>
            <a:ext cx="4114800" cy="59436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37856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AI/ML API Costs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29768" y="40325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OpenAI API credits for matching (6 months)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37560" y="378561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₹0.50L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754880" y="3739896"/>
            <a:ext cx="4114800" cy="59436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37856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Contingency Buffer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64608" y="40325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Server costs, bug fixes, misc ops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772400" y="3785616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₹0.80L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20040" y="4434840"/>
            <a:ext cx="8503920" cy="310896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43484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PHASE 1 TOTAL: ₹8.5 Lakhs (conservative)  ·  Target: 1,000–3,000 verified profiles  ·  Cities: Chennai, Hyderabad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7A9BB5"/>
                </a:solidFill>
              </a:rPr>
              <a:t>SECTION 03 — INVESTMENT PLAN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&amp; 3 — GROWTH &amp; SCALE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</a:rPr>
              <a:t>Month 7–18 · Build revenue engine · Phase 3: ₹1 Cr+ investment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14800" cy="36576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61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  (₹20–40 Lakhs)  ·  Month 7–12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691640"/>
            <a:ext cx="4114800" cy="384048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916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</a:rPr>
              <a:t>Hire 2 Full-Time Devs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16916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9396"/>
                </a:solidFill>
              </a:rPr>
              <a:t>₹12L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130552"/>
            <a:ext cx="411480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305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</a:rPr>
              <a:t>AI Model Fine-tuning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213055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9396"/>
                </a:solidFill>
              </a:rPr>
              <a:t>₹3L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569464"/>
            <a:ext cx="4114800" cy="384048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94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</a:rPr>
              <a:t>Android + iOS Polish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256946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9396"/>
                </a:solidFill>
              </a:rPr>
              <a:t>₹4L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008376"/>
            <a:ext cx="411480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0837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</a:rPr>
              <a:t>Performance Marketing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300837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9396"/>
                </a:solidFill>
              </a:rPr>
              <a:t>₹8L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447288"/>
            <a:ext cx="4114800" cy="384048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44728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</a:rPr>
              <a:t>Customer Support Setup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0" y="344728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9396"/>
                </a:solidFill>
              </a:rPr>
              <a:t>₹3L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886200"/>
            <a:ext cx="411480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862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</a:rPr>
              <a:t>Premium Server Infra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0" y="38862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9396"/>
                </a:solidFill>
              </a:rPr>
              <a:t>₹4L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389120"/>
            <a:ext cx="4114800" cy="274320"/>
          </a:xfrm>
          <a:prstGeom prst="rect">
            <a:avLst/>
          </a:prstGeom>
          <a:solidFill>
            <a:srgbClr val="003F52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389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Total: ₹34L  ·  Target: 50,000 profiles  ·  Revenue: ₹8L/mo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1261872"/>
            <a:ext cx="4069080" cy="36576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126187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PHASE 3  (₹1 Cr+)  ·  Month 13–24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1691640"/>
            <a:ext cx="4069080" cy="384048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6916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</a:rPr>
              <a:t>Full Engineering Team (8 devs)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89520" y="16916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9C46A"/>
                </a:solidFill>
              </a:rPr>
              <a:t>₹36L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2130552"/>
            <a:ext cx="406908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13055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</a:rPr>
              <a:t>Proprietary AI Model Training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589520" y="21305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9C46A"/>
                </a:solidFill>
              </a:rPr>
              <a:t>₹12L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2569464"/>
            <a:ext cx="4069080" cy="384048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56946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</a:rPr>
              <a:t>Pan-India Marketing Campaign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89520" y="256946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9C46A"/>
                </a:solidFill>
              </a:rPr>
              <a:t>₹25L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3008376"/>
            <a:ext cx="406908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00837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</a:rPr>
              <a:t>Legal &amp; IP Protection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589520" y="300837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9C46A"/>
                </a:solidFill>
              </a:rPr>
              <a:t>₹5L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3447288"/>
            <a:ext cx="4069080" cy="384048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4472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</a:rPr>
              <a:t>Office Space + Operations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589520" y="34472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9C46A"/>
                </a:solidFill>
              </a:rPr>
              <a:t>₹10L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54880" y="3886200"/>
            <a:ext cx="406908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38862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0"/>
                </a:solidFill>
              </a:rPr>
              <a:t>Investor Relations + Audit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589520" y="38862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9C46A"/>
                </a:solidFill>
              </a:rPr>
              <a:t>₹7L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54880" y="4389120"/>
            <a:ext cx="4069080" cy="274320"/>
          </a:xfrm>
          <a:prstGeom prst="rect">
            <a:avLst/>
          </a:prstGeom>
          <a:solidFill>
            <a:srgbClr val="003F52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43891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C46A"/>
                </a:solidFill>
              </a:rPr>
              <a:t>Total: ₹95L  ·  Target: 5L profiles  ·  Revenue: ₹60L/mo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3F52"/>
          </a:solidFill>
          <a:ln w="12700">
            <a:solidFill>
              <a:srgbClr val="003F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9C46A"/>
                </a:solidFill>
              </a:rPr>
              <a:t>SECTION  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SETUP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REGISTRATION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D2BD"/>
                </a:solidFill>
              </a:rPr>
              <a:t>Stay compliant. Stay trusted. Stay protected.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7A9BB5"/>
                </a:solidFill>
              </a:rPr>
              <a:t>SECTION 04 — LEGAL SETUP &amp; REGISTRATION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&amp; HOW TO REGISTER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</a:rPr>
              <a:t>Step-by-step company formation in India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14800" cy="86868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61872"/>
            <a:ext cx="411480" cy="86868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99032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13258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Choose Business Structure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59105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9C46A"/>
                </a:solidFill>
              </a:rPr>
              <a:t>Via: Your decision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22960" y="17830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Private Limited Company (Pvt Ltd) recommended for fundraising + liability protection.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1261872"/>
            <a:ext cx="4114800" cy="86868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261872"/>
            <a:ext cx="411480" cy="86868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399032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57800" y="13258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Register on MCA Portal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57800" y="159105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9C46A"/>
                </a:solidFill>
              </a:rPr>
              <a:t>Cost: ₹3,000–7,000  ·  Via: MCA India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257800" y="17830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Apply for DIN, DSC, and file SPICe+ form at mca.gov.in.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267712"/>
            <a:ext cx="4114800" cy="86868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267712"/>
            <a:ext cx="411480" cy="86868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404872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23317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Get PAN &amp; TAN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259689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9C46A"/>
                </a:solidFill>
              </a:rPr>
              <a:t>Cost: ₹110 each  ·  Via: Income Tax Dept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960" y="27889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PAN for company entity. TAN needed if you'll deduct TDS on salaries.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2267712"/>
            <a:ext cx="4114800" cy="86868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267712"/>
            <a:ext cx="411480" cy="86868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404872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57800" y="23317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GST Registration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259689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9C46A"/>
                </a:solidFill>
              </a:rPr>
              <a:t>Cost: Free  ·  Via: GST Portal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257800" y="27889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Mandatory if annual turnover exceeds ₹20L. Register at gst.gov.in.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3273552"/>
            <a:ext cx="4114800" cy="86868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273552"/>
            <a:ext cx="411480" cy="86868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410712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22960" y="3337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Startup India Registration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" y="360273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9C46A"/>
                </a:solidFill>
              </a:rPr>
              <a:t>Cost: Free  ·  Via: DPIIT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22960" y="379476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Tax exemptions (3 yr), easier patent filing, and credibility.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3273552"/>
            <a:ext cx="4114800" cy="86868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273552"/>
            <a:ext cx="411480" cy="86868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410712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257800" y="33375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 Current Bank Account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57800" y="360273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9C46A"/>
                </a:solidFill>
              </a:rPr>
              <a:t>Cost: ₹0–5,000  ·  Via: Your bank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257800" y="379476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HDFC / ICICI / Kotak for startup-friendly zero-balance accounts.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7A9BB5"/>
                </a:solidFill>
              </a:rPr>
              <a:t>SECTION 04 — LEGAL SETUP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LAWS TO FOLLOW &amp; LEGAL RISKS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</a:rPr>
              <a:t>Know your legal landscape before you launch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530352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61872"/>
            <a:ext cx="64008" cy="5303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167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DPDP Act 2023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1353312"/>
            <a:ext cx="914400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35331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57600" y="131673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Digital Personal Data Protection Act. Consent for every data field. Data Protection Officer mandatory. Non-compliance: ₹250 Cr fine.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856232"/>
            <a:ext cx="8503920" cy="530352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856232"/>
            <a:ext cx="64008" cy="5303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9110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Aadhaar Data Rules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06040" y="1947672"/>
            <a:ext cx="914400" cy="21945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194767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57600" y="191109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Cannot store raw Aadhaar numbers. Use UIDAI-certified KYC gateway (DigiLocker / AuthBridge) for verification only.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450592"/>
            <a:ext cx="8503920" cy="530352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450592"/>
            <a:ext cx="64008" cy="5303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5054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IT Act 2000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2542032"/>
            <a:ext cx="914400" cy="21945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25420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57600" y="250545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Must have T&amp;Cs, privacy policy, grievance officer. Respond to takedown requests within 72 hours.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044952"/>
            <a:ext cx="8503920" cy="530352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044952"/>
            <a:ext cx="64008" cy="5303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09981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Consumer Protection Act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06040" y="3136392"/>
            <a:ext cx="914400" cy="21945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313639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657600" y="309981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Paid subscriptions need clear refund policies. Auto-renewal requires explicit consent.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040" y="3639312"/>
            <a:ext cx="8503920" cy="530352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639312"/>
            <a:ext cx="64008" cy="5303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694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Anti-Discrimination Laws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06040" y="3730752"/>
            <a:ext cx="914400" cy="21945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06040" y="373075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657600" y="369417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Caste/religion filters may attract scrutiny. Frame as 'community preference'. Get legal counsel on filter wording.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4233672"/>
            <a:ext cx="8503920" cy="530352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4233672"/>
            <a:ext cx="64008" cy="5303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2885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Contract Act 1872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606040" y="4325112"/>
            <a:ext cx="914400" cy="21945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432511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657600" y="428853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0"/>
                </a:solidFill>
              </a:rPr>
              <a:t>All B2B agreements, developer contracts, vendor NDAs must be properly executed via DocuSign/Leegality.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7A9BB5"/>
                </a:solidFill>
              </a:rPr>
              <a:t>SECTION 04 — LEGAL SETUP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LEGAL ISSUES &amp; HOW TO SOLVE THEM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</a:rPr>
              <a:t>Proactive protection is cheaper than reactive lawsuits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14800" cy="86868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3258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6702"/>
                </a:solidFill>
              </a:rPr>
              <a:t>⚠  Fake Profile Lawsuits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1581912"/>
            <a:ext cx="3886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D2BD"/>
                </a:solidFill>
              </a:rPr>
              <a:t>✔  Mandatory video KYC + Aadhaar-linked verification. 'User self-declared' disclaimer on basic profiles. Store audit trail.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1261872"/>
            <a:ext cx="4114800" cy="86868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3258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6702"/>
                </a:solidFill>
              </a:rPr>
              <a:t>⚠  User Harassment / Abuse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64608" y="1581912"/>
            <a:ext cx="3886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D2BD"/>
                </a:solidFill>
              </a:rPr>
              <a:t>✔  Grievance Officer (mandatory under IT Act). 24-hr block/report system. Female users get privacy mode by default.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4114800" cy="86868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33172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6702"/>
                </a:solidFill>
              </a:rPr>
              <a:t>⚠  Data Breach Liability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9768" y="2587752"/>
            <a:ext cx="3886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D2BD"/>
                </a:solidFill>
              </a:rPr>
              <a:t>✔  Cyber Insurance (₹50–80K/yr). AES-256 encryption. ISO 27001 roadmap. DPDP breach notification within 72 hours.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0" y="2267712"/>
            <a:ext cx="4114800" cy="86868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33172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6702"/>
                </a:solidFill>
              </a:rPr>
              <a:t>⚠  Refund Disputes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64608" y="2587752"/>
            <a:ext cx="3886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D2BD"/>
                </a:solidFill>
              </a:rPr>
              <a:t>✔  Crystal-clear refund policy. 7-day no-questions refund for all subscriptions. Auto-email receipts. CRM ticket trail.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3273552"/>
            <a:ext cx="4114800" cy="86868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33756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6702"/>
                </a:solidFill>
              </a:rPr>
              <a:t>⚠  Caste Filter Discrimination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" y="3593592"/>
            <a:ext cx="3886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D2BD"/>
                </a:solidFill>
              </a:rPr>
              <a:t>✔  Re-frame as 'community preference' with user-chosen filters. Add explicit consent checkbox. Keep legal counsel on retainer.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0" y="3273552"/>
            <a:ext cx="4114800" cy="86868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333756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6702"/>
                </a:solidFill>
              </a:rPr>
              <a:t>⚠  Defamation via Content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64608" y="3593592"/>
            <a:ext cx="3886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D2BD"/>
                </a:solidFill>
              </a:rPr>
              <a:t>✔  AI + human content moderation. Proactive removal of harmful content. Platform disclaimer as intermediary, not publisher.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3F52"/>
          </a:solidFill>
          <a:ln w="12700">
            <a:solidFill>
              <a:srgbClr val="003F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9C46A"/>
                </a:solidFill>
              </a:rPr>
              <a:t>SECTION  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SOFTWARE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D2BD"/>
                </a:solidFill>
              </a:rPr>
              <a:t>The tools, platforms, and code that power Sangam AI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7A9BB5"/>
                </a:solidFill>
              </a:rPr>
              <a:t>SECTION 05 — TECH STACK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&amp; BACKEND ARCHITECTURE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</a:rPr>
              <a:t>The full technology blueprint for Sangam AI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310896"/>
          </a:xfrm>
          <a:prstGeom prst="rect">
            <a:avLst/>
          </a:prstGeom>
          <a:solidFill>
            <a:srgbClr val="0A1A0D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⚠  AUDIT NOTE: Kubernetes + FastAPI microservices + Redis + Socket.IO is overengineered for MVP. Use a monolith first. Add complexity when you have users to justify it.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627632"/>
            <a:ext cx="4114800" cy="274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27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FRONTEND — What Users See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627632"/>
            <a:ext cx="4069080" cy="2743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62763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BACKEND — The Engine Room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1956816"/>
            <a:ext cx="4114800" cy="420624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933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React Native (Expo)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17627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One codebase → Android + iOS. Fastest cross-platform mobile development.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0040" y="2432304"/>
            <a:ext cx="4114800" cy="420624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6888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Next.js (Web Portal)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6517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React framework for web app. Server-side rendering for SEO. Fast load times.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0040" y="2907792"/>
            <a:ext cx="4114800" cy="420624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4436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Tailwind CSS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1272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Utility-first CSS. Rapid UI building. Mobile responsive by default.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0040" y="3383280"/>
            <a:ext cx="4114800" cy="420624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1985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Zustand / Redux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60273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State management for user session, match queue, notifications.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0040" y="3858768"/>
            <a:ext cx="4114800" cy="420624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89534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i18next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0782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Internationalisation library. Powers all 22 vernacular language UIs.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0040" y="4334256"/>
            <a:ext cx="4114800" cy="420624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37083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9396"/>
                </a:solidFill>
              </a:rPr>
              <a:t>Figma → Storybook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553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Design system. All components documented and reusable across app &amp; web.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54880" y="1956816"/>
            <a:ext cx="4069080" cy="420624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993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C46A"/>
                </a:solidFill>
              </a:rPr>
              <a:t>Node.js + Express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217627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Primary API server. Fast, non-blocking. REST + GraphQL APIs.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54880" y="2432304"/>
            <a:ext cx="4069080" cy="420624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468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C46A"/>
                </a:solidFill>
              </a:rPr>
              <a:t>Python (FastAPI)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26517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AI/ML microservices. Compatibility scoring, photo analysis, fraud detection.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54880" y="2907792"/>
            <a:ext cx="4069080" cy="420624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29443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C46A"/>
                </a:solidFill>
              </a:rPr>
              <a:t>PostgreSQL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0" y="312724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Primary relational database. User profiles, subscriptions, match history.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754880" y="3383280"/>
            <a:ext cx="4069080" cy="420624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4198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C46A"/>
                </a:solidFill>
              </a:rPr>
              <a:t>Redis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92040" y="360273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Cache layer. Session storage, real-time match queue, rate limiting.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54880" y="3858768"/>
            <a:ext cx="4069080" cy="420624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8953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C46A"/>
                </a:solidFill>
              </a:rPr>
              <a:t>Firebase / Socket.IO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92040" y="40782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Real-time chat, push notifications, live match alerts.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54880" y="4334256"/>
            <a:ext cx="4069080" cy="420624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437083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C46A"/>
                </a:solidFill>
              </a:rPr>
              <a:t>Docker + Kubernetes*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92040" y="45537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Containerised deployment. *Phase 3 only — not needed for MVP.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7A9BB5"/>
                </a:solidFill>
              </a:rPr>
              <a:t>SECTION 05 — TECH STACK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ML &amp; CLOUD INFRASTRUCTURE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</a:rPr>
              <a:t>The intelligence layer that makes Sangam AI different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14800" cy="1051560"/>
          </a:xfrm>
          <a:prstGeom prst="rect">
            <a:avLst/>
          </a:prstGeom>
          <a:solidFill>
            <a:srgbClr val="003F52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61872"/>
            <a:ext cx="411480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353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Compatibility Matching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" y="16276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OpenAI GPT-4 + Custom ML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" y="182880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Analyses 40+ profile dimensions. Generates compatibility narrative. Learns from user feedback.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1261872"/>
            <a:ext cx="4114800" cy="1051560"/>
          </a:xfrm>
          <a:prstGeom prst="rect">
            <a:avLst/>
          </a:prstGeom>
          <a:solidFill>
            <a:srgbClr val="003F52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261872"/>
            <a:ext cx="41148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1353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Fake Profile Detection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4608" y="16276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</a:rPr>
              <a:t>Computer Vision + NLP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64608" y="182880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Detects stock photos via reverse image search. NLP flags suspicious text. Fraud score per profile.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432304"/>
            <a:ext cx="4114800" cy="1051560"/>
          </a:xfrm>
          <a:prstGeom prst="rect">
            <a:avLst/>
          </a:prstGeom>
          <a:solidFill>
            <a:srgbClr val="003F52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432304"/>
            <a:ext cx="4114800" cy="54864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5237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Vernacular NLP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27980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D2BD"/>
                </a:solidFill>
              </a:rPr>
              <a:t>Google Cloud + Bhashini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9768" y="299923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India's Bhashini API for 22 official languages. Voice input transcription. Regional script rendering.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2432304"/>
            <a:ext cx="4114800" cy="1051560"/>
          </a:xfrm>
          <a:prstGeom prst="rect">
            <a:avLst/>
          </a:prstGeom>
          <a:solidFill>
            <a:srgbClr val="003F5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432304"/>
            <a:ext cx="4114800" cy="54864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25237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Photo Verification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27980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6702"/>
                </a:solidFill>
              </a:rPr>
              <a:t>AWS Rekognition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64608" y="299923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Detects real vs fake face. Checks liveness for video KYC. Verifies selfie matches profile photo.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3602736"/>
            <a:ext cx="4114800" cy="1051560"/>
          </a:xfrm>
          <a:prstGeom prst="rect">
            <a:avLst/>
          </a:prstGeom>
          <a:solidFill>
            <a:srgbClr val="003F52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602736"/>
            <a:ext cx="4114800" cy="5486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6941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Hosting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9768" y="39684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AWS (EC2, S3, RDS, Lambda)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29768" y="416966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Start: 1 EC2 t3.medium (~₹4,500/mo). S3 for photos. Auto-scale to 10+ nodes by Phase 3.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3602736"/>
            <a:ext cx="4114800" cy="1051560"/>
          </a:xfrm>
          <a:prstGeom prst="rect">
            <a:avLst/>
          </a:prstGeom>
          <a:solidFill>
            <a:srgbClr val="003F52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602736"/>
            <a:ext cx="41148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6941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CDN &amp; Performance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64608" y="39684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</a:rPr>
              <a:t>Cloudflare + AWS CloudFront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64608" y="416966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Global CDN. DDoS protection. Image optimisation. SSL termination. ~₹1,500/mo.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3F52"/>
          </a:solidFill>
          <a:ln w="12700">
            <a:solidFill>
              <a:srgbClr val="003F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9C46A"/>
                </a:solidFill>
              </a:rPr>
              <a:t>SECTION  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TOOLS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D2BD"/>
                </a:solidFill>
              </a:rPr>
              <a:t>Every tool you need — with exact monthly costs in Rupees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7A9BB5"/>
                </a:solidFill>
              </a:rPr>
              <a:t>SECTION 06 — SUBSCRIPTIONS &amp; TOOLS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SUBSCRIPTIONS &amp; MONTHLY COSTS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</a:rPr>
              <a:t>Phase 1 monthly cloud &amp; SaaS spend breakdown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14800" cy="1243584"/>
          </a:xfrm>
          <a:prstGeom prst="rect">
            <a:avLst/>
          </a:prstGeom>
          <a:solidFill>
            <a:srgbClr val="003F52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261872"/>
            <a:ext cx="4114800" cy="274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618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Hosting &amp; Cloud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5727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AWS EC2 (t3.medium × 2)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54680" y="15727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A9396"/>
                </a:solidFill>
              </a:rPr>
              <a:t>₹9,000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17922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AWS S3 (500 GB)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54680" y="179222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A9396"/>
                </a:solidFill>
              </a:rPr>
              <a:t>₹1,200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0116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AWS RDS PostgreSQL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54680" y="2011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A9396"/>
                </a:solidFill>
              </a:rPr>
              <a:t>₹3,500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223113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DataDog (monitoring)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54680" y="22311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A9396"/>
                </a:solidFill>
              </a:rPr>
              <a:t>₹3,500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1261872"/>
            <a:ext cx="4114800" cy="1005840"/>
          </a:xfrm>
          <a:prstGeom prst="rect">
            <a:avLst/>
          </a:prstGeom>
          <a:solidFill>
            <a:srgbClr val="003F52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261872"/>
            <a:ext cx="4114800" cy="2743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2618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Dev &amp; Security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5727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GitHub Pro (team)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589520" y="157276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₹1,700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0" y="17922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Cloudflare Pro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589520" y="179222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₹1,600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20116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Sentry (error tracking)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89520" y="2011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₹1,400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496312"/>
            <a:ext cx="4114800" cy="1243584"/>
          </a:xfrm>
          <a:prstGeom prst="rect">
            <a:avLst/>
          </a:prstGeom>
          <a:solidFill>
            <a:srgbClr val="003F52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496312"/>
            <a:ext cx="4114800" cy="27432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496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AI &amp; APIs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11480" y="28072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OpenAI GPT-4 API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154680" y="28072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D2BD"/>
                </a:solidFill>
              </a:rPr>
              <a:t>₹6,000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11480" y="30266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Bhashini API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154680" y="30266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D2BD"/>
                </a:solidFill>
              </a:rPr>
              <a:t>₹0 (gov free)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32461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AWS Rekognition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154680" y="32461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D2BD"/>
                </a:solidFill>
              </a:rPr>
              <a:t>₹2,500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11480" y="346557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Google Maps API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154680" y="34655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D2BD"/>
                </a:solidFill>
              </a:rPr>
              <a:t>₹1,500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2496312"/>
            <a:ext cx="4114800" cy="1243584"/>
          </a:xfrm>
          <a:prstGeom prst="rect">
            <a:avLst/>
          </a:prstGeom>
          <a:solidFill>
            <a:srgbClr val="003F5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2496312"/>
            <a:ext cx="4114800" cy="274320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496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Business Tools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28072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Razorpay (payments 2%)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589520" y="28072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A6702"/>
                </a:solidFill>
              </a:rPr>
              <a:t>₹0 + TXN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46320" y="30266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Zoho Suite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589520" y="30266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A6702"/>
                </a:solidFill>
              </a:rPr>
              <a:t>₹2,000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46320" y="32461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Slack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589520" y="324612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A6702"/>
                </a:solidFill>
              </a:rPr>
              <a:t>₹1,800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46320" y="346557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Figma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589520" y="34655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A6702"/>
                </a:solidFill>
              </a:rPr>
              <a:t>₹1,500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0040" y="3730752"/>
            <a:ext cx="4114800" cy="1005840"/>
          </a:xfrm>
          <a:prstGeom prst="rect">
            <a:avLst/>
          </a:prstGeom>
          <a:solidFill>
            <a:srgbClr val="003F52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" y="3730752"/>
            <a:ext cx="4114800" cy="27432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7307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Communication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40416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Twilio (OTP SMS)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154680" y="40416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A9396"/>
                </a:solidFill>
              </a:rPr>
              <a:t>₹3,000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11480" y="42611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SendGrid (emails)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154680" y="426110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A9396"/>
                </a:solidFill>
              </a:rPr>
              <a:t>₹1,500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11480" y="44805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Firebase (push notif.)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154680" y="44805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A9396"/>
                </a:solidFill>
              </a:rPr>
              <a:t>₹0 (free)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754880" y="3730752"/>
            <a:ext cx="4114800" cy="1005840"/>
          </a:xfrm>
          <a:prstGeom prst="rect">
            <a:avLst/>
          </a:prstGeom>
          <a:solidFill>
            <a:srgbClr val="003F52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54880" y="3730752"/>
            <a:ext cx="4114800" cy="2743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46320" y="37307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Legal &amp; Compliance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846320" y="40416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Leegality (e-sign)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589520" y="40416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₹1,500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846320" y="42611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AuthBridge (Aadhaar KYC)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589520" y="426110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₹2,500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846320" y="44805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Cyber Insurance (÷12)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589520" y="44805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₹5,500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20040" y="4681728"/>
            <a:ext cx="8503920" cy="164592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468172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9C46A"/>
                </a:solidFill>
              </a:rPr>
              <a:t>PHASE 1 TOTAL MONTHLY CLOUD SPEND: ~₹45,000–55,000/month  ·  Scales to ₹2.5L/mo by Phase 3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3F52"/>
          </a:solidFill>
          <a:ln w="12700">
            <a:solidFill>
              <a:srgbClr val="003F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9C46A"/>
                </a:solidFill>
              </a:rPr>
              <a:t>SECTION  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&amp;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HIRING PLAN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D2BD"/>
                </a:solidFill>
              </a:rPr>
              <a:t>Who you need, when you need them, what to pay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7A9BB5"/>
                </a:solidFill>
              </a:rPr>
              <a:t>SECTION 07 — TEAM &amp; HIRING PLAN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STRUCTURE &amp; HIRING ROADMAP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</a:rPr>
              <a:t>Phase-wise team build — Chennai-based + remote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640080" cy="292608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61872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</a:rPr>
              <a:t>Phase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78408" y="1261872"/>
            <a:ext cx="2194560" cy="292608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12618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</a:rPr>
              <a:t>Role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191256" y="1261872"/>
            <a:ext cx="1371600" cy="292608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6976" y="126187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</a:rPr>
              <a:t>Monthly Cost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81144" y="1261872"/>
            <a:ext cx="3200400" cy="292608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12618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</a:rPr>
              <a:t>Key Skills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799832" y="1261872"/>
            <a:ext cx="1280160" cy="292608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45552" y="12618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</a:rPr>
              <a:t>When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1591056"/>
            <a:ext cx="64008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591056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</a:rPr>
              <a:t>P1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78408" y="1591056"/>
            <a:ext cx="219456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1591056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Co-Founder / CEO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191256" y="1591056"/>
            <a:ext cx="137160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6976" y="159105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9396"/>
                </a:solidFill>
              </a:rPr>
              <a:t>Equity Only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81144" y="1591056"/>
            <a:ext cx="320040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6864" y="1591056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Product vision, sales, fundraising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799832" y="1591056"/>
            <a:ext cx="128016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45552" y="1591056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Day 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1920240"/>
            <a:ext cx="64008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1920240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</a:rPr>
              <a:t>P1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78408" y="1920240"/>
            <a:ext cx="219456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192024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Full-Stack Dev (Contract)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191256" y="1920240"/>
            <a:ext cx="137160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36976" y="192024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9396"/>
                </a:solidFill>
              </a:rPr>
              <a:t>₹40–60K/mo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81144" y="1920240"/>
            <a:ext cx="320040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26864" y="1920240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React Native, Node.js, PostgreSQL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799832" y="1920240"/>
            <a:ext cx="128016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45552" y="1920240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Day 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" y="2249424"/>
            <a:ext cx="64008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249424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9396"/>
                </a:solidFill>
              </a:rPr>
              <a:t>P1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78408" y="2249424"/>
            <a:ext cx="219456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4128" y="2249424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UI/UX Designer (Freelance)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191256" y="2249424"/>
            <a:ext cx="137160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36976" y="224942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9396"/>
                </a:solidFill>
              </a:rPr>
              <a:t>₹25–35K/mo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81144" y="2249424"/>
            <a:ext cx="320040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26864" y="2249424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Figma, mobile UX, vernacular UI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799832" y="2249424"/>
            <a:ext cx="128016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45552" y="224942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Day 1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0040" y="2578608"/>
            <a:ext cx="64008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2578608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D2BD"/>
                </a:solidFill>
              </a:rPr>
              <a:t>P2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78408" y="2578608"/>
            <a:ext cx="219456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24128" y="257860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Full-Stack Dev #2 (FT)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191256" y="2578608"/>
            <a:ext cx="137160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36976" y="257860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9396"/>
                </a:solidFill>
              </a:rPr>
              <a:t>₹60–80K/mo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81144" y="2578608"/>
            <a:ext cx="320040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26864" y="257860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Backend APIs, AI integration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799832" y="2578608"/>
            <a:ext cx="128016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45552" y="257860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Month 6+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0040" y="2907792"/>
            <a:ext cx="64008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2907792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D2BD"/>
                </a:solidFill>
              </a:rPr>
              <a:t>P2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78408" y="2907792"/>
            <a:ext cx="219456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24128" y="2907792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AI/ML Engineer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191256" y="2907792"/>
            <a:ext cx="137160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36976" y="2907792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9396"/>
                </a:solidFill>
              </a:rPr>
              <a:t>₹70–90K/mo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581144" y="2907792"/>
            <a:ext cx="320040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26864" y="2907792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Python, TensorFlow, OpenAI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799832" y="2907792"/>
            <a:ext cx="128016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45552" y="290779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Month 6+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20040" y="3236976"/>
            <a:ext cx="64008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3236976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D2BD"/>
                </a:solidFill>
              </a:rPr>
              <a:t>P2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978408" y="3236976"/>
            <a:ext cx="219456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24128" y="3236976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Marketing Manager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191256" y="3236976"/>
            <a:ext cx="137160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36976" y="323697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9396"/>
                </a:solidFill>
              </a:rPr>
              <a:t>₹35–50K/mo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581144" y="3236976"/>
            <a:ext cx="320040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626864" y="3236976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Digital ads, content, Tamil/Hindi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799832" y="3236976"/>
            <a:ext cx="128016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845552" y="3236976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Month 6+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20040" y="3566160"/>
            <a:ext cx="64008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5760" y="3566160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D2BD"/>
                </a:solidFill>
              </a:rPr>
              <a:t>P2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978408" y="3566160"/>
            <a:ext cx="219456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24128" y="3566160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Customer Support Lead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191256" y="3566160"/>
            <a:ext cx="137160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36976" y="356616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9396"/>
                </a:solidFill>
              </a:rPr>
              <a:t>₹20–30K/mo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581144" y="3566160"/>
            <a:ext cx="320040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26864" y="3566160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CRM, grievance handling, Tamil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799832" y="3566160"/>
            <a:ext cx="128016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845552" y="3566160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Month 6+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20040" y="3895344"/>
            <a:ext cx="64008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65760" y="3895344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P3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978408" y="3895344"/>
            <a:ext cx="219456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24128" y="3895344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CTO (Co-Founder/Hire)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191256" y="3895344"/>
            <a:ext cx="137160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36976" y="389534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9396"/>
                </a:solidFill>
              </a:rPr>
              <a:t>₹1.5–2.5L/mo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4581144" y="3895344"/>
            <a:ext cx="320040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626864" y="3895344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System design, team leadership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7799832" y="3895344"/>
            <a:ext cx="128016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845552" y="389534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Month 12+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320040" y="4224528"/>
            <a:ext cx="64008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65760" y="4224528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P3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978408" y="4224528"/>
            <a:ext cx="219456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024128" y="4224528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DevOps Engineer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191256" y="4224528"/>
            <a:ext cx="137160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236976" y="422452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9396"/>
                </a:solidFill>
              </a:rPr>
              <a:t>₹80K–1.2L/mo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4581144" y="4224528"/>
            <a:ext cx="320040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626864" y="4224528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AWS, Docker, CI/CD pipelines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7799832" y="4224528"/>
            <a:ext cx="1280160" cy="301752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845552" y="422452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Month 12+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320040" y="4553712"/>
            <a:ext cx="64008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65760" y="4553712"/>
            <a:ext cx="548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C46A"/>
                </a:solidFill>
              </a:rPr>
              <a:t>P3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978408" y="4553712"/>
            <a:ext cx="219456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24128" y="4553712"/>
            <a:ext cx="21031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Protection Officer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3191256" y="4553712"/>
            <a:ext cx="137160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236976" y="4553712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9396"/>
                </a:solidFill>
              </a:rPr>
              <a:t>₹60–80K/mo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4581144" y="4553712"/>
            <a:ext cx="320040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626864" y="4553712"/>
            <a:ext cx="3108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DPDP Act compliance, legal-tech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7799832" y="4553712"/>
            <a:ext cx="1280160" cy="301752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845552" y="455371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Month 12+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3F52"/>
          </a:solidFill>
          <a:ln w="12700">
            <a:solidFill>
              <a:srgbClr val="003F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9C46A"/>
                </a:solidFill>
              </a:rPr>
              <a:t>SECTION  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GROWTH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D2BD"/>
                </a:solidFill>
              </a:rPr>
              <a:t>Getting your first 10,000 users without burning cash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7A9BB5"/>
                </a:solidFill>
              </a:rPr>
              <a:t>SECTION 08 — MARKETING &amp; GROWTH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 &amp; GROWTH CHANNELS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</a:rPr>
              <a:t>Phase 1: ₹1.5L budget · Max impact · Zero waste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329184"/>
          </a:xfrm>
          <a:prstGeom prst="rect">
            <a:avLst/>
          </a:prstGeom>
          <a:solidFill>
            <a:srgbClr val="1A080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B7B1"/>
                </a:solidFill>
              </a:rPr>
              <a:t>🔴  COLD-START RISK: Pre-seed 1,000 curated profiles BEFORE launch. Users join → see no matches → leave → negative loop. Solve this first.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691640"/>
            <a:ext cx="4114800" cy="868680"/>
          </a:xfrm>
          <a:prstGeom prst="rect">
            <a:avLst/>
          </a:prstGeom>
          <a:solidFill>
            <a:srgbClr val="003F52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91640"/>
            <a:ext cx="64008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7647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💬 Hyper-Local WhatsApp Groups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20208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9396"/>
                </a:solidFill>
              </a:rPr>
              <a:t>Budget: ₹0  ·  ROI: ★★★★★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" y="220370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Share success stories in city-specific family groups. Tamil Nadu matrimony communities. Free and viral.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1691640"/>
            <a:ext cx="4114800" cy="868680"/>
          </a:xfrm>
          <a:prstGeom prst="rect">
            <a:avLst/>
          </a:prstGeom>
          <a:solidFill>
            <a:srgbClr val="003F52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691640"/>
            <a:ext cx="64008" cy="8686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7647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🛕 Community &amp; Temple Tie-ups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19472" y="20208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C46A"/>
                </a:solidFill>
              </a:rPr>
              <a:t>Budget: ₹10K  ·  ROI: ★★★★★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19472" y="220370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Partner with local temples, community centres, senior citizen groups. Offline flyers + QR code install.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" y="2679192"/>
            <a:ext cx="4114800" cy="868680"/>
          </a:xfrm>
          <a:prstGeom prst="rect">
            <a:avLst/>
          </a:prstGeom>
          <a:solidFill>
            <a:srgbClr val="003F52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679192"/>
            <a:ext cx="64008" cy="868680"/>
          </a:xfrm>
          <a:prstGeom prst="rect">
            <a:avLst/>
          </a:prstGeom>
          <a:solidFill>
            <a:srgbClr val="94D2BD"/>
          </a:solidFill>
          <a:ln w="12700">
            <a:solidFill>
              <a:srgbClr val="94D2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27523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📱 Instagram Reels + Tamil Content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300837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Budget: ₹40K/mo  ·  ROI: ★★★★☆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4632" y="31912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Short reels showcasing AI features, success stories, family testimonials. Paid boost on high performers.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2679192"/>
            <a:ext cx="4114800" cy="868680"/>
          </a:xfrm>
          <a:prstGeom prst="rect">
            <a:avLst/>
          </a:prstGeom>
          <a:solidFill>
            <a:srgbClr val="003F5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679192"/>
            <a:ext cx="64008" cy="868680"/>
          </a:xfrm>
          <a:prstGeom prst="rect">
            <a:avLst/>
          </a:prstGeom>
          <a:solidFill>
            <a:srgbClr val="CA6702"/>
          </a:solidFill>
          <a:ln w="12700">
            <a:solidFill>
              <a:srgbClr val="CA670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7523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🎓 College Alumni Referral Program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19472" y="300837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6702"/>
                </a:solidFill>
              </a:rPr>
              <a:t>Budget: ₹20K  ·  ROI: ★★★☆☆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19472" y="31912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NIT/IIT alumni networks. Offer 1 month premium for every successful referral. Network effect.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3666744"/>
            <a:ext cx="4114800" cy="868680"/>
          </a:xfrm>
          <a:prstGeom prst="rect">
            <a:avLst/>
          </a:prstGeom>
          <a:solidFill>
            <a:srgbClr val="003F52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666744"/>
            <a:ext cx="64008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37398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🔍 Google Search Ads (Tamil)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" y="39959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9396"/>
                </a:solidFill>
              </a:rPr>
              <a:t>Budget: ₹30K/mo  ·  ROI: ★★★★☆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4632" y="41788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'Chennai matrimony', 'AI matchmaking', 'verified profiles' — high intent, low competition currently.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3666744"/>
            <a:ext cx="4114800" cy="868680"/>
          </a:xfrm>
          <a:prstGeom prst="rect">
            <a:avLst/>
          </a:prstGeom>
          <a:solidFill>
            <a:srgbClr val="003F52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666744"/>
            <a:ext cx="64008" cy="8686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7398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🎥 Influencer + YouTube (Tamil)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19472" y="39959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C46A"/>
                </a:solidFill>
              </a:rPr>
              <a:t>Budget: ₹25K  ·  ROI: ★★★★☆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19472" y="41788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Micro-influencers (50K–200K followers). Marriage counsellors, family YouTubers. Authentic reviews.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3F52"/>
          </a:solidFill>
          <a:ln w="12700">
            <a:solidFill>
              <a:srgbClr val="003F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9C46A"/>
                </a:solidFill>
              </a:rPr>
              <a:t>SECTION  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PROJECTIONS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KPIs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32004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D2BD"/>
                </a:solidFill>
              </a:rPr>
              <a:t>Revenue roadmap — Month 1 to Month 36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7A9BB5"/>
                </a:solidFill>
              </a:rPr>
              <a:t>SECTION 09 — FINANCIAL PROJECTIONS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FINANCIAL PROJECTION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</a:rPr>
              <a:t>Conservative model — based on 2% conversion on free users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1261872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320040" y="38404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5"/>
                </a:solidFill>
              </a:rPr>
              <a:t>Monthly Revenue Growth (₹ Lakhs)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0" y="1261872"/>
            <a:ext cx="2011680" cy="27432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32120" y="12618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</a:rPr>
              <a:t>Metric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525512" y="1261872"/>
            <a:ext cx="914400" cy="27432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71232" y="12618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</a:rPr>
              <a:t>Month 6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8467344" y="1261872"/>
            <a:ext cx="914400" cy="27432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13064" y="12618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</a:rPr>
              <a:t>Month 12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9409176" y="1261872"/>
            <a:ext cx="914400" cy="27432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54896" y="12618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</a:rPr>
              <a:t>Month 24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486400" y="1572768"/>
            <a:ext cx="2011680" cy="3200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32120" y="15727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Registered Users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525512" y="1572768"/>
            <a:ext cx="914400" cy="3200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71232" y="157276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5,000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8467344" y="1572768"/>
            <a:ext cx="914400" cy="3200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13064" y="157276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50,000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9409176" y="1572768"/>
            <a:ext cx="914400" cy="3200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454896" y="157276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3,00,000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486400" y="1920240"/>
            <a:ext cx="201168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3212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Verified Profiles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525512" y="1920240"/>
            <a:ext cx="91440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71232" y="1920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2,000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467344" y="1920240"/>
            <a:ext cx="91440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513064" y="1920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20,000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9409176" y="1920240"/>
            <a:ext cx="91440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454896" y="19202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1,20,000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486400" y="2267712"/>
            <a:ext cx="2011680" cy="3200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532120" y="22677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Paid Subscribers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7525512" y="2267712"/>
            <a:ext cx="914400" cy="3200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71232" y="226771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100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8467344" y="2267712"/>
            <a:ext cx="914400" cy="3200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513064" y="226771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1,000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9409176" y="2267712"/>
            <a:ext cx="914400" cy="3200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454896" y="226771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8,000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486400" y="2615184"/>
            <a:ext cx="201168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532120" y="261518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Monthly Revenue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7525512" y="2615184"/>
            <a:ext cx="91440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571232" y="261518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₹50K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8467344" y="2615184"/>
            <a:ext cx="91440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513064" y="261518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₹5L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9409176" y="2615184"/>
            <a:ext cx="91440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454896" y="261518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₹35L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5486400" y="2962656"/>
            <a:ext cx="2011680" cy="3200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532120" y="29626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Monthly Burn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7525512" y="2962656"/>
            <a:ext cx="914400" cy="3200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571232" y="296265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₹4L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8467344" y="2962656"/>
            <a:ext cx="914400" cy="3200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513064" y="296265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₹12L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9409176" y="2962656"/>
            <a:ext cx="914400" cy="3200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454896" y="296265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₹28L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5486400" y="3310128"/>
            <a:ext cx="201168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532120" y="33101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Net Profit/Loss</a:t>
            </a:r>
            <a:endParaRPr lang="en-US" sz="800" dirty="0"/>
          </a:p>
        </p:txBody>
      </p:sp>
      <p:sp>
        <p:nvSpPr>
          <p:cNvPr id="61" name="Shape 58"/>
          <p:cNvSpPr/>
          <p:nvPr/>
        </p:nvSpPr>
        <p:spPr>
          <a:xfrm>
            <a:off x="7525512" y="3310128"/>
            <a:ext cx="91440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571232" y="331012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6702"/>
                </a:solidFill>
              </a:rPr>
              <a:t>-₹3.5L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8467344" y="3310128"/>
            <a:ext cx="91440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513064" y="331012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6702"/>
                </a:solidFill>
              </a:rPr>
              <a:t>-₹7L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9409176" y="3310128"/>
            <a:ext cx="91440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454896" y="331012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9396"/>
                </a:solidFill>
              </a:rPr>
              <a:t>+₹7L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486400" y="3657600"/>
            <a:ext cx="2011680" cy="3200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532120" y="3657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Break-even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7525512" y="3657600"/>
            <a:ext cx="914400" cy="3200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571232" y="3657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—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8467344" y="3657600"/>
            <a:ext cx="914400" cy="3200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513064" y="3657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—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9409176" y="3657600"/>
            <a:ext cx="914400" cy="320040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9454896" y="3657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D2BD"/>
                </a:solidFill>
              </a:rPr>
              <a:t>Month 22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5486400" y="4041648"/>
            <a:ext cx="3337560" cy="2743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5532120" y="40416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9C46A"/>
                </a:solidFill>
              </a:rPr>
              <a:t>Break-even: Month 22  ·  Target ARR Y3: ₹14.4 Cr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7A9BB5"/>
                </a:solidFill>
              </a:rPr>
              <a:t>SECTION 10 — RISK REGISTER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 AI  ·  CONFIDENTIAL BUSINESS PLAN  ·  2025–2028  ·  CHENNAI, INDIA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365760"/>
            <a:ext cx="9144000" cy="457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REGISTER &amp; MITIGATION PLAN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BB5"/>
                </a:solidFill>
              </a:rPr>
              <a:t>Know your risks. Have the answer ready before launch.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2011680" cy="27432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618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</a:rPr>
              <a:t>Risk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59152" y="1261872"/>
            <a:ext cx="822960" cy="27432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2618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</a:rPr>
              <a:t>Severity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9544" y="1261872"/>
            <a:ext cx="5852160" cy="274320"/>
          </a:xfrm>
          <a:prstGeom prst="rect">
            <a:avLst/>
          </a:prstGeom>
          <a:solidFill>
            <a:srgbClr val="003F52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5264" y="126187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C46A"/>
                </a:solidFill>
              </a:rPr>
              <a:t>Mitigation Strategy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1572768"/>
            <a:ext cx="2011680" cy="356616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59152" y="1572768"/>
            <a:ext cx="822960" cy="356616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9544" y="1572768"/>
            <a:ext cx="5852160" cy="356616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72768"/>
            <a:ext cx="19202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Trust in AI decisions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50592" y="1645920"/>
            <a:ext cx="64008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0592" y="16459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255264" y="1572768"/>
            <a:ext cx="5760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Position AI as 'suggestion engine', not final authority. Family approval built in.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1956816"/>
            <a:ext cx="2011680" cy="356616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59152" y="1956816"/>
            <a:ext cx="822960" cy="356616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9544" y="1956816"/>
            <a:ext cx="5852160" cy="356616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956816"/>
            <a:ext cx="19202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Cold-start (no users)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50592" y="2029968"/>
            <a:ext cx="64008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50592" y="20299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255264" y="1956816"/>
            <a:ext cx="5760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Pre-seed 1,000 profiles via Chennai community partnerships BEFORE app launch.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2340864"/>
            <a:ext cx="2011680" cy="356616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9152" y="2340864"/>
            <a:ext cx="822960" cy="356616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9544" y="2340864"/>
            <a:ext cx="5852160" cy="356616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340864"/>
            <a:ext cx="19202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breach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450592" y="2414016"/>
            <a:ext cx="640080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50592" y="241401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255264" y="2340864"/>
            <a:ext cx="5760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Cyber insurance + AES-256 + ISO 27001 roadmap. DPDP breach protocol ready Day 1.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" y="2724912"/>
            <a:ext cx="2011680" cy="356616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59152" y="2724912"/>
            <a:ext cx="822960" cy="356616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9544" y="2724912"/>
            <a:ext cx="5852160" cy="356616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724912"/>
            <a:ext cx="19202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Fake profiles scale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450592" y="2798064"/>
            <a:ext cx="64008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50592" y="279806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255264" y="2724912"/>
            <a:ext cx="5760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AI fraud score + manual review queue. No profile goes live without verification pass.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0040" y="3108960"/>
            <a:ext cx="2011680" cy="356616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59152" y="3108960"/>
            <a:ext cx="822960" cy="356616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9544" y="3108960"/>
            <a:ext cx="5852160" cy="356616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108960"/>
            <a:ext cx="19202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Caste filter legal risk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450592" y="3182112"/>
            <a:ext cx="64008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50592" y="318211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255264" y="3108960"/>
            <a:ext cx="5760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User-chosen filters only. 'Community preference' framing. Legal counsel on retainer.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0040" y="3493008"/>
            <a:ext cx="2011680" cy="356616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59152" y="3493008"/>
            <a:ext cx="822960" cy="356616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9544" y="3493008"/>
            <a:ext cx="5852160" cy="356616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493008"/>
            <a:ext cx="19202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Cash runway running out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450592" y="3566160"/>
            <a:ext cx="64008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50592" y="35661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MED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255264" y="3493008"/>
            <a:ext cx="5760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Maintain 6-month runway always. Milestone-based fundraising. Revenue before Phase 2.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20040" y="3877056"/>
            <a:ext cx="2011680" cy="356616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59152" y="3877056"/>
            <a:ext cx="822960" cy="356616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9544" y="3877056"/>
            <a:ext cx="5852160" cy="356616"/>
          </a:xfrm>
          <a:prstGeom prst="rect">
            <a:avLst/>
          </a:prstGeom>
          <a:solidFill>
            <a:srgbClr val="102840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3877056"/>
            <a:ext cx="19202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Competitor copy feature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450592" y="3950208"/>
            <a:ext cx="64008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450592" y="395020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LOW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255264" y="3877056"/>
            <a:ext cx="5760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Build moat via vernacular depth + family UX. Patent AI-Kundli hybrid matching method.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0040" y="4261104"/>
            <a:ext cx="2011680" cy="356616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59152" y="4261104"/>
            <a:ext cx="822960" cy="356616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9544" y="4261104"/>
            <a:ext cx="5852160" cy="356616"/>
          </a:xfrm>
          <a:prstGeom prst="rect">
            <a:avLst/>
          </a:prstGeom>
          <a:solidFill>
            <a:srgbClr val="0D2137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261104"/>
            <a:ext cx="192024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App Store rejection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450592" y="4334256"/>
            <a:ext cx="64008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450592" y="433425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LOW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3255264" y="4261104"/>
            <a:ext cx="576072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Follow Apple/Google policies. No adult content. Age verification in place.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731520"/>
            <a:ext cx="4114800" cy="4114800"/>
          </a:xfrm>
          <a:prstGeom prst="ellipse">
            <a:avLst/>
          </a:prstGeom>
          <a:solidFill>
            <a:srgbClr val="005F73">
              <a:alpha val="12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188720"/>
            <a:ext cx="3200400" cy="3200400"/>
          </a:xfrm>
          <a:prstGeom prst="ellipse">
            <a:avLst/>
          </a:prstGeom>
          <a:solidFill>
            <a:srgbClr val="0A9396">
              <a:alpha val="15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9C46A"/>
                </a:solidFill>
              </a:rPr>
              <a:t>THE SANGAM THESIS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50292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77824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India's matrimonial market is broken — built on outdated filters, unverified profiles, and zero AI intelligence. Sangam AI is the first platform to combine deep AI matching, 22 vernacular languages, family-inclusive UX, and multi-layer verification. With ₹8.5L to start and a clear 36-month roadmap, this is a fundable, scalable, and deeply needed business.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1920240" cy="822960"/>
          </a:xfrm>
          <a:prstGeom prst="rect">
            <a:avLst/>
          </a:prstGeom>
          <a:solidFill>
            <a:srgbClr val="003F52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591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₹8.5L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27706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Phase 1 Budget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606040" y="2331720"/>
            <a:ext cx="1920240" cy="822960"/>
          </a:xfrm>
          <a:prstGeom prst="rect">
            <a:avLst/>
          </a:prstGeom>
          <a:solidFill>
            <a:srgbClr val="003F52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3591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D2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22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27706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Break-even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754880" y="2331720"/>
            <a:ext cx="1920240" cy="822960"/>
          </a:xfrm>
          <a:prstGeom prst="rect">
            <a:avLst/>
          </a:prstGeom>
          <a:solidFill>
            <a:srgbClr val="003F52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3591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₹1.2 Cr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00600" y="27706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MRR by Year 3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903720" y="2331720"/>
            <a:ext cx="1920240" cy="822960"/>
          </a:xfrm>
          <a:prstGeom prst="rect">
            <a:avLst/>
          </a:prstGeom>
          <a:solidFill>
            <a:srgbClr val="003F52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3591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D2B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Cr+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49440" y="27706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B5"/>
                </a:solidFill>
              </a:rPr>
              <a:t>Target Users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C46A"/>
                </a:solidFill>
              </a:rPr>
              <a:t>NEXT STEPS: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1627632" cy="384048"/>
          </a:xfrm>
          <a:prstGeom prst="rect">
            <a:avLst/>
          </a:prstGeom>
          <a:solidFill>
            <a:srgbClr val="005F7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57600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① Register the Company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176272" y="3657600"/>
            <a:ext cx="1627632" cy="384048"/>
          </a:xfrm>
          <a:prstGeom prst="rect">
            <a:avLst/>
          </a:prstGeom>
          <a:solidFill>
            <a:srgbClr val="005F7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21992" y="3657600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② Commission MVP Design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95344" y="3657600"/>
            <a:ext cx="1627632" cy="384048"/>
          </a:xfrm>
          <a:prstGeom prst="rect">
            <a:avLst/>
          </a:prstGeom>
          <a:solidFill>
            <a:srgbClr val="005F7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41064" y="3657600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③ Hire 1 Full-Stack Dev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14416" y="3657600"/>
            <a:ext cx="1627632" cy="384048"/>
          </a:xfrm>
          <a:prstGeom prst="rect">
            <a:avLst/>
          </a:prstGeom>
          <a:solidFill>
            <a:srgbClr val="005F7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0136" y="3657600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④ Launch in Chennai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33488" y="3657600"/>
            <a:ext cx="1627632" cy="384048"/>
          </a:xfrm>
          <a:prstGeom prst="rect">
            <a:avLst/>
          </a:prstGeom>
          <a:solidFill>
            <a:srgbClr val="005F73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79208" y="3657600"/>
            <a:ext cx="1536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⑤ Raise Angel Round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D2BD"/>
                </a:solidFill>
              </a:rPr>
              <a:t>sangam.ai  ·  Pan-India  ·  2025–2028  ·  Confidential Business Plan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Sangam AI — Business Plan 2025–2028</dc:title>
  <dc:subject>PptxGenJS Presentation</dc:subject>
  <dc:creator>PptxGenJS</dc:creator>
  <cp:lastModifiedBy>PptxGenJS</cp:lastModifiedBy>
  <cp:revision>1</cp:revision>
  <dcterms:created xsi:type="dcterms:W3CDTF">2026-04-14T07:13:02Z</dcterms:created>
  <dcterms:modified xsi:type="dcterms:W3CDTF">2026-04-14T07:13:02Z</dcterms:modified>
</cp:coreProperties>
</file>